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Afacad Flux Medium"/>
      <p:regular r:id="rId14"/>
      <p:bold r:id="rId15"/>
    </p:embeddedFont>
    <p:embeddedFont>
      <p:font typeface="Afacad Flux"/>
      <p:regular r:id="rId16"/>
      <p:bold r:id="rId17"/>
    </p:embeddedFont>
    <p:embeddedFont>
      <p:font typeface="Comforta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facadFluxMedium-bold.fntdata"/><Relationship Id="rId14" Type="http://schemas.openxmlformats.org/officeDocument/2006/relationships/font" Target="fonts/AfacadFluxMedium-regular.fntdata"/><Relationship Id="rId17" Type="http://schemas.openxmlformats.org/officeDocument/2006/relationships/font" Target="fonts/AfacadFlux-bold.fntdata"/><Relationship Id="rId16" Type="http://schemas.openxmlformats.org/officeDocument/2006/relationships/font" Target="fonts/AfacadFlux-regular.fntdata"/><Relationship Id="rId19" Type="http://schemas.openxmlformats.org/officeDocument/2006/relationships/font" Target="fonts/Comfortaa-bold.fntdata"/><Relationship Id="rId18" Type="http://schemas.openxmlformats.org/officeDocument/2006/relationships/font" Target="fonts/Comforta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09c12d4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409c12d4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09c12d4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e409c12d4e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11" Type="http://schemas.openxmlformats.org/officeDocument/2006/relationships/image" Target="../media/image11.png"/><Relationship Id="rId10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5.png"/><Relationship Id="rId22" Type="http://schemas.openxmlformats.org/officeDocument/2006/relationships/image" Target="../media/image32.png"/><Relationship Id="rId21" Type="http://schemas.openxmlformats.org/officeDocument/2006/relationships/image" Target="../media/image41.png"/><Relationship Id="rId24" Type="http://schemas.openxmlformats.org/officeDocument/2006/relationships/image" Target="../media/image38.png"/><Relationship Id="rId23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26.png"/><Relationship Id="rId26" Type="http://schemas.openxmlformats.org/officeDocument/2006/relationships/image" Target="../media/image19.png"/><Relationship Id="rId25" Type="http://schemas.openxmlformats.org/officeDocument/2006/relationships/image" Target="../media/image48.png"/><Relationship Id="rId28" Type="http://schemas.openxmlformats.org/officeDocument/2006/relationships/image" Target="../media/image40.png"/><Relationship Id="rId27" Type="http://schemas.openxmlformats.org/officeDocument/2006/relationships/image" Target="../media/image46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Relationship Id="rId11" Type="http://schemas.openxmlformats.org/officeDocument/2006/relationships/image" Target="../media/image14.png"/><Relationship Id="rId10" Type="http://schemas.openxmlformats.org/officeDocument/2006/relationships/image" Target="../media/image18.png"/><Relationship Id="rId13" Type="http://schemas.openxmlformats.org/officeDocument/2006/relationships/image" Target="../media/image37.png"/><Relationship Id="rId12" Type="http://schemas.openxmlformats.org/officeDocument/2006/relationships/image" Target="../media/image24.png"/><Relationship Id="rId15" Type="http://schemas.openxmlformats.org/officeDocument/2006/relationships/image" Target="../media/image23.png"/><Relationship Id="rId14" Type="http://schemas.openxmlformats.org/officeDocument/2006/relationships/image" Target="../media/image30.png"/><Relationship Id="rId17" Type="http://schemas.openxmlformats.org/officeDocument/2006/relationships/image" Target="../media/image22.png"/><Relationship Id="rId16" Type="http://schemas.openxmlformats.org/officeDocument/2006/relationships/image" Target="../media/image21.png"/><Relationship Id="rId19" Type="http://schemas.openxmlformats.org/officeDocument/2006/relationships/image" Target="../media/image36.png"/><Relationship Id="rId18" Type="http://schemas.openxmlformats.org/officeDocument/2006/relationships/image" Target="../media/image3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43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Relationship Id="rId7" Type="http://schemas.openxmlformats.org/officeDocument/2006/relationships/image" Target="../media/image39.png"/><Relationship Id="rId8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31.png"/><Relationship Id="rId6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9" Type="http://schemas.openxmlformats.org/officeDocument/2006/relationships/image" Target="../media/image47.png"/><Relationship Id="rId5" Type="http://schemas.openxmlformats.org/officeDocument/2006/relationships/image" Target="../media/image50.png"/><Relationship Id="rId6" Type="http://schemas.openxmlformats.org/officeDocument/2006/relationships/image" Target="../media/image25.png"/><Relationship Id="rId7" Type="http://schemas.openxmlformats.org/officeDocument/2006/relationships/image" Target="../media/image52.png"/><Relationship Id="rId8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D8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05551" y="1709737"/>
            <a:ext cx="7180800" cy="16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F172A"/>
                </a:solidFill>
                <a:latin typeface="Comfortaa"/>
                <a:ea typeface="Comfortaa"/>
                <a:cs typeface="Comfortaa"/>
                <a:sym typeface="Comfortaa"/>
              </a:rPr>
              <a:t>Duck Agents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85825" y="4300512"/>
            <a:ext cx="10220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50" cap="none" strike="noStrike">
                <a:solidFill>
                  <a:srgbClr val="334155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Team Duck Agent: </a:t>
            </a:r>
            <a:r>
              <a:rPr i="1" lang="en-US" sz="2850">
                <a:solidFill>
                  <a:srgbClr val="334155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42xNeedle Hackathon</a:t>
            </a:r>
            <a:r>
              <a:rPr b="0" i="1" lang="en-US" sz="2850" cap="none" strike="noStrike">
                <a:solidFill>
                  <a:srgbClr val="334155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 2026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0716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0716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20716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670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9670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9670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29670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623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38623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38623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386238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577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1375" y="47577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0" y="4757737"/>
            <a:ext cx="261937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01125" y="4757737"/>
            <a:ext cx="261937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38200" y="22717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62075" y="2286000"/>
            <a:ext cx="762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Scout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648075" y="22717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171950" y="2286000"/>
            <a:ext cx="1209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Parser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457950" y="22717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81825" y="2286000"/>
            <a:ext cx="771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Miner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267825" y="22717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791700" y="2286000"/>
            <a:ext cx="1009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Planner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" y="31670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62075" y="3181350"/>
            <a:ext cx="1352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Minimalist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3648075" y="31670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171950" y="3181350"/>
            <a:ext cx="1466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Architect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457950" y="31670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981825" y="3181350"/>
            <a:ext cx="1305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Builder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9267825" y="31670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791700" y="3181350"/>
            <a:ext cx="155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Tactician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38200" y="40624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362075" y="4076700"/>
            <a:ext cx="111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Tester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3648075" y="40624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4171950" y="4076700"/>
            <a:ext cx="1305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Debugger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457950" y="40624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981825" y="4076700"/>
            <a:ext cx="1466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Repairer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9267825" y="406241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9791700" y="4076700"/>
            <a:ext cx="714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Critic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38200" y="49577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362075" y="4972050"/>
            <a:ext cx="1466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Validator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3648075" y="49577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171950" y="4972050"/>
            <a:ext cx="952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Logger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457950" y="49577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6981825" y="4972050"/>
            <a:ext cx="161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Coordinator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9267825" y="4957762"/>
            <a:ext cx="3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🦆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9791700" y="4972050"/>
            <a:ext cx="1743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Guardrail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571500" y="47625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Meet the Duck Agent Flock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90637"/>
            <a:ext cx="53816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290637"/>
            <a:ext cx="53816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10012"/>
            <a:ext cx="5381625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3910012"/>
            <a:ext cx="538162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1449113" y="1650000"/>
            <a:ext cx="339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Phase 1 — Understand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100950" y="1691774"/>
            <a:ext cx="399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Phase 2 — Build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443828" y="4291000"/>
            <a:ext cx="32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Phase 3 — Verify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7100950" y="4290999"/>
            <a:ext cx="38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Phase 4 — Govern</a:t>
            </a:r>
            <a:endParaRPr/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1685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2271712"/>
            <a:ext cx="10668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33600" y="2409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81250" y="2271712"/>
            <a:ext cx="11239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19500" y="2409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67150" y="2271712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67300" y="2409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2500" y="2814637"/>
            <a:ext cx="10477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14550" y="29527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362200" y="2814637"/>
            <a:ext cx="1247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19875" y="1685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19875" y="2271712"/>
            <a:ext cx="13525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86725" y="2409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34375" y="2271712"/>
            <a:ext cx="1190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9300" y="2409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619875" y="2814637"/>
            <a:ext cx="21145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48725" y="29527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096375" y="2814637"/>
            <a:ext cx="16954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52500" y="4305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52500" y="4891087"/>
            <a:ext cx="11144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81225" y="5029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428875" y="4891087"/>
            <a:ext cx="14382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81450" y="5029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229100" y="4891087"/>
            <a:ext cx="13144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2500" y="5572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200150" y="5434012"/>
            <a:ext cx="1362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619875" y="4305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619875" y="4891087"/>
            <a:ext cx="19335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0" y="5029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915400" y="4891087"/>
            <a:ext cx="21717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875" y="5572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867525" y="5434012"/>
            <a:ext cx="24574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5"/>
          <p:cNvSpPr txBox="1"/>
          <p:nvPr/>
        </p:nvSpPr>
        <p:spPr>
          <a:xfrm>
            <a:off x="571500" y="476250"/>
            <a:ext cx="11601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Collaboration Protocol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75767"/>
            <a:ext cx="5286375" cy="4687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3512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952500" y="1756767"/>
            <a:ext cx="475059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The Mastermind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52500" y="2528292"/>
            <a:ext cx="4524375" cy="10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Phase Switching: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The Orchestrator acts as the brain, seamlessly transitioning between stages like </a:t>
            </a:r>
            <a:r>
              <a:rPr b="0" i="1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Understand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and </a:t>
            </a:r>
            <a:r>
              <a:rPr b="0" i="1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Verify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52500" y="3758654"/>
            <a:ext cx="4524375" cy="103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Role Assignment: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Instead of a single AI trying to do everything, it summons specialized </a:t>
            </a:r>
            <a:r>
              <a:rPr b="0" i="1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duck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agents for targeted tasks.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952500" y="4989016"/>
            <a:ext cx="4524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The Goal:</a:t>
            </a:r>
            <a:r>
              <a:rPr b="0" i="0" lang="en-US" sz="19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b="0" i="0" lang="en-US" sz="1950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Write a perfect C </a:t>
            </a:r>
            <a:r>
              <a:rPr b="0" i="1" lang="en-US" sz="1950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itoa</a:t>
            </a:r>
            <a:r>
              <a:rPr b="0" i="0" lang="en-US" sz="1950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function entirely autonomously!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Decoding the Orchestrator Log</a:t>
            </a:r>
            <a:endParaRPr/>
          </a:p>
        </p:txBody>
      </p:sp>
      <p:pic>
        <p:nvPicPr>
          <p:cNvPr id="199" name="Google Shape;19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7101" y="1529313"/>
            <a:ext cx="4380400" cy="43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6387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76387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576387"/>
            <a:ext cx="342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/>
        </p:nvSpPr>
        <p:spPr>
          <a:xfrm>
            <a:off x="904875" y="2719387"/>
            <a:ext cx="29003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Scout &amp; Parser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904875" y="3348025"/>
            <a:ext cx="2762100" cy="1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These agents scan the environment and parse the prompt to understand the ultimate goal: creating an </a:t>
            </a:r>
            <a:r>
              <a:rPr b="0" i="1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itoa</a:t>
            </a:r>
            <a:r>
              <a:rPr b="0" i="0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 function in C</a:t>
            </a:r>
            <a:r>
              <a:rPr lang="en-US" sz="1800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4714875" y="2719387"/>
            <a:ext cx="29003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Miner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4714875" y="3348022"/>
            <a:ext cx="2762100" cy="21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Digs deep into the parsed data to extract the core constraints and logic: handling specific bases, pointers, and negative numbers.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8524875" y="2719387"/>
            <a:ext cx="29003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Coordinator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8524875" y="3348020"/>
            <a:ext cx="2762100" cy="1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Manages the flock, ensuring all prerequisites and rules are met before handing off the blueprint to the execution phase.</a:t>
            </a:r>
            <a:endParaRPr/>
          </a:p>
        </p:txBody>
      </p:sp>
      <p:pic>
        <p:nvPicPr>
          <p:cNvPr descr="image.png" id="214" name="Google Shape;21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19573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19573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5" y="1957387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Phase 1: Understand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75767"/>
            <a:ext cx="5286375" cy="4687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3512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952500" y="1756767"/>
            <a:ext cx="475059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Writing Code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52500" y="2528302"/>
            <a:ext cx="4524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Once the 'Understand' phase finishes, agents trigger the </a:t>
            </a:r>
            <a:r>
              <a:rPr b="1" i="0" lang="en-US" sz="1950" u="none" cap="none" strike="noStrike">
                <a:solidFill>
                  <a:srgbClr val="1E293B"/>
                </a:solidFill>
                <a:latin typeface="Afacad Flux"/>
                <a:ea typeface="Afacad Flux"/>
                <a:cs typeface="Afacad Flux"/>
                <a:sym typeface="Afacad Flux"/>
              </a:rPr>
              <a:t>WRITE_FILE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 action to generate </a:t>
            </a:r>
            <a:r>
              <a:rPr b="0" i="1" lang="en-US" sz="19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itoa.c</a:t>
            </a:r>
            <a:r>
              <a:rPr b="0" i="0" lang="en-US" sz="19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52500" y="3758649"/>
            <a:ext cx="4524300" cy="1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5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rPr>
              <a:t>“</a:t>
            </a:r>
            <a:r>
              <a:rPr b="1" i="1" lang="en-US" sz="1950" u="none" cap="none" strike="noStrike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rPr>
              <a:t>But wait! The very first draft lacks a main() function, making it impossible to compile and test.</a:t>
            </a:r>
            <a:r>
              <a:rPr b="1" i="1" lang="en-US" sz="195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rPr>
              <a:t>”</a:t>
            </a:r>
            <a:endParaRPr b="1" i="1">
              <a:solidFill>
                <a:schemeClr val="dk1"/>
              </a:solidFill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952500" y="4989016"/>
            <a:ext cx="4524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sng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The Orchestrator immediately notices the gap in logic and shifts gears.</a:t>
            </a:r>
            <a:endParaRPr u="sng"/>
          </a:p>
        </p:txBody>
      </p:sp>
      <p:sp>
        <p:nvSpPr>
          <p:cNvPr id="229" name="Google Shape;229;p18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Phase 2: Execution &amp; Code Generation</a:t>
            </a:r>
            <a:endParaRPr/>
          </a:p>
        </p:txBody>
      </p:sp>
      <p:pic>
        <p:nvPicPr>
          <p:cNvPr id="230" name="Google Shape;23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5388" y="1557575"/>
            <a:ext cx="4323849" cy="432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6387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576387"/>
            <a:ext cx="3429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576387"/>
            <a:ext cx="3429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904875" y="2719387"/>
            <a:ext cx="29003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Tester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904875" y="3348021"/>
            <a:ext cx="2762100" cy="1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Takes the generated </a:t>
            </a:r>
            <a:r>
              <a:rPr b="0" i="1" lang="en-US" sz="180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itoa.c</a:t>
            </a:r>
            <a:r>
              <a:rPr b="0" i="0" lang="en-US" sz="1800" u="none" cap="none" strike="noStrike">
                <a:solidFill>
                  <a:srgbClr val="FFFFFF"/>
                </a:solidFill>
                <a:latin typeface="Afacad Flux"/>
                <a:ea typeface="Afacad Flux"/>
                <a:cs typeface="Afacad Flux"/>
                <a:sym typeface="Afacad Flux"/>
              </a:rPr>
              <a:t>, adds a main() function, and compiles it using the RUN_TESTS action to see if it executes.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4714875" y="2719387"/>
            <a:ext cx="29003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Debugger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4714875" y="3348021"/>
            <a:ext cx="2762100" cy="1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Catches the errors! It analyzes the test output and discovers undefined behavior because a crucial return statement was missing.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8524875" y="2719387"/>
            <a:ext cx="290036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Repairer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8524875" y="3348019"/>
            <a:ext cx="2762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Afacad Flux"/>
                <a:ea typeface="Afacad Flux"/>
                <a:cs typeface="Afacad Flux"/>
                <a:sym typeface="Afacad Flux"/>
              </a:rPr>
              <a:t>Rewrites the file iteratively based on the debug logs. It's an autonomous, self-healing loop striving for perfection!</a:t>
            </a:r>
            <a:endParaRPr/>
          </a:p>
        </p:txBody>
      </p:sp>
      <p:pic>
        <p:nvPicPr>
          <p:cNvPr descr="image.png" id="245" name="Google Shape;24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1957387"/>
            <a:ext cx="5048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195738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4875" y="195738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571500" y="47625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Phase 3: Verify &amp; Heal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D8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3140630" y="2233612"/>
            <a:ext cx="5910738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Questions?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2628900" y="3824287"/>
            <a:ext cx="693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cap="none" strike="noStrike">
                <a:solidFill>
                  <a:srgbClr val="334155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Team Duck Agent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